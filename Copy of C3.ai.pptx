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  <p:sldMasterId id="214748370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  <p:embeddedFont>
      <p:font typeface="Source Serif 4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ourceSerif4-regular.fntdata"/><Relationship Id="rId25" Type="http://schemas.openxmlformats.org/officeDocument/2006/relationships/font" Target="fonts/MontserratMedium-boldItalic.fntdata"/><Relationship Id="rId28" Type="http://schemas.openxmlformats.org/officeDocument/2006/relationships/font" Target="fonts/SourceSerif4-italic.fntdata"/><Relationship Id="rId27" Type="http://schemas.openxmlformats.org/officeDocument/2006/relationships/font" Target="fonts/SourceSerif4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SourceSerif4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8de915912_0_1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f8de915912_0_1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8de915912_0_2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f8de915912_0_2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8de915912_0_2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f8de915912_0_2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8de915912_0_2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f8de915912_0_2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8de915912_0_2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f8de915912_0_2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8de915912_0_2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f8de915912_0_2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8de915912_0_2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f8de915912_0_2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8de915912_0_2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f8de915912_0_2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8df9ade86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f8df9ade86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8de915912_0_2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f8de915912_0_2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8de915912_0_2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f8de915912_0_2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3618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" name="Google Shape;56;p14"/>
          <p:cNvSpPr/>
          <p:nvPr>
            <p:ph idx="2" type="pic"/>
          </p:nvPr>
        </p:nvSpPr>
        <p:spPr>
          <a:xfrm rot="-5400000">
            <a:off x="4689300" y="690800"/>
            <a:ext cx="3062700" cy="58551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256050" y="3313175"/>
            <a:ext cx="2352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3" type="title"/>
          </p:nvPr>
        </p:nvSpPr>
        <p:spPr>
          <a:xfrm>
            <a:off x="256050" y="3800525"/>
            <a:ext cx="2352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title"/>
          </p:nvPr>
        </p:nvSpPr>
        <p:spPr>
          <a:xfrm>
            <a:off x="256050" y="256025"/>
            <a:ext cx="8631900" cy="11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">
  <p:cSld name="BLANK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1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4572000" y="-6600"/>
            <a:ext cx="4572000" cy="51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256025" y="213150"/>
            <a:ext cx="42612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56025" y="1547275"/>
            <a:ext cx="36396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2" type="title"/>
          </p:nvPr>
        </p:nvSpPr>
        <p:spPr>
          <a:xfrm>
            <a:off x="6067500" y="4448600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3" type="title"/>
          </p:nvPr>
        </p:nvSpPr>
        <p:spPr>
          <a:xfrm>
            <a:off x="6067500" y="4621154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4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5" type="body"/>
          </p:nvPr>
        </p:nvSpPr>
        <p:spPr>
          <a:xfrm>
            <a:off x="5190600" y="1902000"/>
            <a:ext cx="3639600" cy="16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5">
    <p:bg>
      <p:bgPr>
        <a:solidFill>
          <a:schemeClr val="dk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5" name="Google Shape;75;p17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7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7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7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5597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2" type="title"/>
          </p:nvPr>
        </p:nvSpPr>
        <p:spPr>
          <a:xfrm>
            <a:off x="25597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3" type="body"/>
          </p:nvPr>
        </p:nvSpPr>
        <p:spPr>
          <a:xfrm>
            <a:off x="250612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4" type="title"/>
          </p:nvPr>
        </p:nvSpPr>
        <p:spPr>
          <a:xfrm>
            <a:off x="250612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5" type="body"/>
          </p:nvPr>
        </p:nvSpPr>
        <p:spPr>
          <a:xfrm>
            <a:off x="475627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6" type="title"/>
          </p:nvPr>
        </p:nvSpPr>
        <p:spPr>
          <a:xfrm>
            <a:off x="475627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1">
  <p:cSld name="BLANK_1_1_1_1_1_1_1_1_1_1_1_4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-75" y="10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2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2">
  <p:cSld name="BLANK_1_1_1_1_1_1_1_1_1_1_1_4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/>
        </p:nvSpPr>
        <p:spPr>
          <a:xfrm flipH="1">
            <a:off x="-25" y="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256025" y="213150"/>
            <a:ext cx="60540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2"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ub-section 3">
  <p:cSld name="BLANK_1_1_1_1_1_1_1_1_1_1_1_4_1_1_1"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256025" y="213150"/>
            <a:ext cx="55836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9" name="Google Shape;99;p20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2559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25061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02" name="Google Shape;102;p20"/>
          <p:cNvSpPr txBox="1"/>
          <p:nvPr>
            <p:ph idx="3" type="body"/>
          </p:nvPr>
        </p:nvSpPr>
        <p:spPr>
          <a:xfrm>
            <a:off x="47563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03" name="Google Shape;103;p20"/>
          <p:cNvSpPr txBox="1"/>
          <p:nvPr>
            <p:ph idx="4" type="subTitle"/>
          </p:nvPr>
        </p:nvSpPr>
        <p:spPr>
          <a:xfrm>
            <a:off x="255975" y="1548360"/>
            <a:ext cx="4131900" cy="2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cxnSp>
        <p:nvCxnSpPr>
          <p:cNvPr id="104" name="Google Shape;104;p20"/>
          <p:cNvCxnSpPr>
            <a:stCxn id="105" idx="2"/>
            <a:endCxn id="106" idx="6"/>
          </p:cNvCxnSpPr>
          <p:nvPr/>
        </p:nvCxnSpPr>
        <p:spPr>
          <a:xfrm>
            <a:off x="7312308" y="609469"/>
            <a:ext cx="1831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20"/>
          <p:cNvSpPr/>
          <p:nvPr/>
        </p:nvSpPr>
        <p:spPr>
          <a:xfrm>
            <a:off x="7925052" y="0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7503454" y="189104"/>
            <a:ext cx="840900" cy="840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7312308" y="403669"/>
            <a:ext cx="411600" cy="4116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BLANK_1_1_1_1_1_1_1_1_1_1_1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25597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2" type="subTitle"/>
          </p:nvPr>
        </p:nvSpPr>
        <p:spPr>
          <a:xfrm>
            <a:off x="25597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p21"/>
          <p:cNvSpPr/>
          <p:nvPr/>
        </p:nvSpPr>
        <p:spPr>
          <a:xfrm flipH="1" rot="10800000">
            <a:off x="6692400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13" name="Google Shape;113;p21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4" type="body"/>
          </p:nvPr>
        </p:nvSpPr>
        <p:spPr>
          <a:xfrm>
            <a:off x="255862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5" type="subTitle"/>
          </p:nvPr>
        </p:nvSpPr>
        <p:spPr>
          <a:xfrm>
            <a:off x="255862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6" type="body"/>
          </p:nvPr>
        </p:nvSpPr>
        <p:spPr>
          <a:xfrm>
            <a:off x="480877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7" type="subTitle"/>
          </p:nvPr>
        </p:nvSpPr>
        <p:spPr>
          <a:xfrm>
            <a:off x="480877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8" type="body"/>
          </p:nvPr>
        </p:nvSpPr>
        <p:spPr>
          <a:xfrm>
            <a:off x="6821675" y="2023213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9" type="subTitle"/>
          </p:nvPr>
        </p:nvSpPr>
        <p:spPr>
          <a:xfrm>
            <a:off x="705892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3" type="subTitle"/>
          </p:nvPr>
        </p:nvSpPr>
        <p:spPr>
          <a:xfrm>
            <a:off x="25597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4" type="subTitle"/>
          </p:nvPr>
        </p:nvSpPr>
        <p:spPr>
          <a:xfrm>
            <a:off x="255862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5" type="subTitle"/>
          </p:nvPr>
        </p:nvSpPr>
        <p:spPr>
          <a:xfrm>
            <a:off x="480877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6" type="subTitle"/>
          </p:nvPr>
        </p:nvSpPr>
        <p:spPr>
          <a:xfrm>
            <a:off x="705892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2 content display">
  <p:cSld name="BLANK_1_1_1_1_1_1_1_1_1_1_1_2_1_4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8" name="Google Shape;128;p22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2" name="Google Shape;132;p22"/>
          <p:cNvCxnSpPr>
            <a:stCxn id="131" idx="7"/>
            <a:endCxn id="128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2"/>
          <p:cNvCxnSpPr>
            <a:stCxn id="131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2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2" type="body"/>
          </p:nvPr>
        </p:nvSpPr>
        <p:spPr>
          <a:xfrm>
            <a:off x="1994150" y="3231050"/>
            <a:ext cx="24585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37" name="Google Shape;137;p22"/>
          <p:cNvSpPr/>
          <p:nvPr>
            <p:ph idx="3" type="pic"/>
          </p:nvPr>
        </p:nvSpPr>
        <p:spPr>
          <a:xfrm>
            <a:off x="255950" y="29831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2"/>
          <p:cNvSpPr txBox="1"/>
          <p:nvPr>
            <p:ph idx="4" type="subTitle"/>
          </p:nvPr>
        </p:nvSpPr>
        <p:spPr>
          <a:xfrm>
            <a:off x="1994150" y="2994050"/>
            <a:ext cx="24585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5" type="body"/>
          </p:nvPr>
        </p:nvSpPr>
        <p:spPr>
          <a:xfrm>
            <a:off x="6429400" y="3231850"/>
            <a:ext cx="24585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0" name="Google Shape;140;p22"/>
          <p:cNvSpPr/>
          <p:nvPr>
            <p:ph idx="6" type="pic"/>
          </p:nvPr>
        </p:nvSpPr>
        <p:spPr>
          <a:xfrm>
            <a:off x="4691200" y="29839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2"/>
          <p:cNvSpPr txBox="1"/>
          <p:nvPr>
            <p:ph idx="7" type="subTitle"/>
          </p:nvPr>
        </p:nvSpPr>
        <p:spPr>
          <a:xfrm>
            <a:off x="6429400" y="2994850"/>
            <a:ext cx="24585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42" name="Google Shape;142;p22"/>
          <p:cNvSpPr txBox="1"/>
          <p:nvPr>
            <p:ph idx="8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2_1_3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7" name="Google Shape;147;p23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3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3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3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">
  <p:cSld name="BLANK_1_1_1_1_1_1_1_1_1_1_1_2_1_3_1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7" name="Google Shape;157;p24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4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4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4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2" name="Google Shape;162;p24"/>
          <p:cNvSpPr txBox="1"/>
          <p:nvPr>
            <p:ph idx="2" type="body"/>
          </p:nvPr>
        </p:nvSpPr>
        <p:spPr>
          <a:xfrm>
            <a:off x="444125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3370950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4" type="body"/>
          </p:nvPr>
        </p:nvSpPr>
        <p:spPr>
          <a:xfrm>
            <a:off x="6297725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5" type="title"/>
          </p:nvPr>
        </p:nvSpPr>
        <p:spPr>
          <a:xfrm>
            <a:off x="444125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66" name="Google Shape;166;p24"/>
          <p:cNvSpPr txBox="1"/>
          <p:nvPr>
            <p:ph idx="6" type="title"/>
          </p:nvPr>
        </p:nvSpPr>
        <p:spPr>
          <a:xfrm>
            <a:off x="3370950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67" name="Google Shape;167;p24"/>
          <p:cNvSpPr txBox="1"/>
          <p:nvPr>
            <p:ph idx="7" type="title"/>
          </p:nvPr>
        </p:nvSpPr>
        <p:spPr>
          <a:xfrm>
            <a:off x="6297775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6">
  <p:cSld name="BLANK_1_1_1_1_1_1_1_1_1_1_1_2_1_2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3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73" name="Google Shape;173;p25"/>
          <p:cNvSpPr txBox="1"/>
          <p:nvPr>
            <p:ph idx="4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5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75" name="Google Shape;175;p25"/>
          <p:cNvSpPr txBox="1"/>
          <p:nvPr>
            <p:ph idx="6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7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77" name="Google Shape;177;p25"/>
          <p:cNvSpPr txBox="1"/>
          <p:nvPr>
            <p:ph idx="8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7">
  <p:cSld name="BLANK_1_1_1_1_1_1_1_1_1_1_1_2_1_2_2_1">
    <p:bg>
      <p:bgPr>
        <a:solidFill>
          <a:schemeClr val="dk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6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82" name="Google Shape;182;p26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6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6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6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6"/>
          <p:cNvSpPr txBox="1"/>
          <p:nvPr>
            <p:ph idx="2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87" name="Google Shape;187;p26"/>
          <p:cNvSpPr txBox="1"/>
          <p:nvPr>
            <p:ph idx="3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4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89" name="Google Shape;189;p26"/>
          <p:cNvSpPr txBox="1"/>
          <p:nvPr>
            <p:ph idx="5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6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191" name="Google Shape;191;p26"/>
          <p:cNvSpPr txBox="1"/>
          <p:nvPr>
            <p:ph idx="7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8">
  <p:cSld name="BLANK_1_1_1_1_1_1_1_1_1_1_1_2_1_5"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7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7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6" name="Google Shape;196;p27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0" name="Google Shape;200;p27"/>
          <p:cNvCxnSpPr>
            <a:stCxn id="199" idx="7"/>
            <a:endCxn id="196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7"/>
          <p:cNvCxnSpPr>
            <a:stCxn id="199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7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2" type="title"/>
          </p:nvPr>
        </p:nvSpPr>
        <p:spPr>
          <a:xfrm>
            <a:off x="112425" y="35229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5" name="Google Shape;205;p27"/>
          <p:cNvSpPr txBox="1"/>
          <p:nvPr>
            <p:ph idx="3" type="subTitle"/>
          </p:nvPr>
        </p:nvSpPr>
        <p:spPr>
          <a:xfrm>
            <a:off x="459075" y="4178725"/>
            <a:ext cx="12060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4" type="title"/>
          </p:nvPr>
        </p:nvSpPr>
        <p:spPr>
          <a:xfrm>
            <a:off x="4718600" y="35229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7" name="Google Shape;207;p27"/>
          <p:cNvSpPr txBox="1"/>
          <p:nvPr>
            <p:ph idx="5" type="subTitle"/>
          </p:nvPr>
        </p:nvSpPr>
        <p:spPr>
          <a:xfrm>
            <a:off x="5065250" y="4178725"/>
            <a:ext cx="12060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6" type="body"/>
          </p:nvPr>
        </p:nvSpPr>
        <p:spPr>
          <a:xfrm>
            <a:off x="6880375" y="3231050"/>
            <a:ext cx="20307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09" name="Google Shape;209;p27"/>
          <p:cNvSpPr txBox="1"/>
          <p:nvPr>
            <p:ph idx="7" type="subTitle"/>
          </p:nvPr>
        </p:nvSpPr>
        <p:spPr>
          <a:xfrm>
            <a:off x="6880375" y="2984750"/>
            <a:ext cx="20307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8" type="subTitle"/>
          </p:nvPr>
        </p:nvSpPr>
        <p:spPr>
          <a:xfrm>
            <a:off x="2274000" y="2984750"/>
            <a:ext cx="20307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9" type="body"/>
          </p:nvPr>
        </p:nvSpPr>
        <p:spPr>
          <a:xfrm>
            <a:off x="2274000" y="3231050"/>
            <a:ext cx="20307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9">
  <p:cSld name="BLANK_1_1_1_1_1_1_1_1_1_1_1_2_1_6"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422609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15" name="Google Shape;215;p28"/>
          <p:cNvSpPr txBox="1"/>
          <p:nvPr>
            <p:ph idx="2" type="body"/>
          </p:nvPr>
        </p:nvSpPr>
        <p:spPr>
          <a:xfrm>
            <a:off x="2614838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16" name="Google Shape;216;p28"/>
          <p:cNvSpPr txBox="1"/>
          <p:nvPr>
            <p:ph idx="3" type="body"/>
          </p:nvPr>
        </p:nvSpPr>
        <p:spPr>
          <a:xfrm>
            <a:off x="4785550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idx="4" type="body"/>
          </p:nvPr>
        </p:nvSpPr>
        <p:spPr>
          <a:xfrm>
            <a:off x="6956263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422609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9" name="Google Shape;219;p28"/>
          <p:cNvSpPr txBox="1"/>
          <p:nvPr>
            <p:ph idx="5" type="title"/>
          </p:nvPr>
        </p:nvSpPr>
        <p:spPr>
          <a:xfrm>
            <a:off x="2614838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20" name="Google Shape;220;p28"/>
          <p:cNvSpPr txBox="1"/>
          <p:nvPr>
            <p:ph idx="6" type="title"/>
          </p:nvPr>
        </p:nvSpPr>
        <p:spPr>
          <a:xfrm>
            <a:off x="4785550" y="3094675"/>
            <a:ext cx="1728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21" name="Google Shape;221;p28"/>
          <p:cNvSpPr txBox="1"/>
          <p:nvPr>
            <p:ph idx="7" type="title"/>
          </p:nvPr>
        </p:nvSpPr>
        <p:spPr>
          <a:xfrm>
            <a:off x="6956263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22" name="Google Shape;222;p28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 txBox="1"/>
          <p:nvPr>
            <p:ph idx="8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24" name="Google Shape;224;p28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8" name="Google Shape;228;p28"/>
          <p:cNvCxnSpPr>
            <a:stCxn id="227" idx="7"/>
            <a:endCxn id="224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8"/>
          <p:cNvCxnSpPr>
            <a:stCxn id="227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8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8"/>
          <p:cNvSpPr txBox="1"/>
          <p:nvPr>
            <p:ph idx="9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 content display">
  <p:cSld name="BLANK_1_1_1_1_1_1_1_1_1_1_1_2_1_2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cxnSp>
        <p:nvCxnSpPr>
          <p:cNvPr id="234" name="Google Shape;234;p29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9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37" name="Google Shape;237;p29"/>
          <p:cNvSpPr txBox="1"/>
          <p:nvPr>
            <p:ph idx="3" type="body"/>
          </p:nvPr>
        </p:nvSpPr>
        <p:spPr>
          <a:xfrm>
            <a:off x="3582350" y="3224900"/>
            <a:ext cx="36396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38" name="Google Shape;238;p29"/>
          <p:cNvSpPr txBox="1"/>
          <p:nvPr>
            <p:ph idx="4" type="subTitle"/>
          </p:nvPr>
        </p:nvSpPr>
        <p:spPr>
          <a:xfrm>
            <a:off x="3582350" y="2987900"/>
            <a:ext cx="36396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9" name="Google Shape;239;p29"/>
          <p:cNvSpPr/>
          <p:nvPr>
            <p:ph idx="5" type="pic"/>
          </p:nvPr>
        </p:nvSpPr>
        <p:spPr>
          <a:xfrm>
            <a:off x="256025" y="2987900"/>
            <a:ext cx="31764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9"/>
          <p:cNvSpPr txBox="1"/>
          <p:nvPr>
            <p:ph idx="6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with image">
  <p:cSld name="BLANK_1_1_1_1_1_1_1_1_1_1_1_2_1_2_1_1"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3" name="Google Shape;243;p30"/>
          <p:cNvSpPr/>
          <p:nvPr>
            <p:ph idx="2" type="pic"/>
          </p:nvPr>
        </p:nvSpPr>
        <p:spPr>
          <a:xfrm>
            <a:off x="6565675" y="6375"/>
            <a:ext cx="2578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256600" y="167290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45" name="Google Shape;245;p30"/>
          <p:cNvSpPr txBox="1"/>
          <p:nvPr>
            <p:ph idx="3" type="title"/>
          </p:nvPr>
        </p:nvSpPr>
        <p:spPr>
          <a:xfrm>
            <a:off x="256600" y="138382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4" type="body"/>
          </p:nvPr>
        </p:nvSpPr>
        <p:spPr>
          <a:xfrm>
            <a:off x="256600" y="3630275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47" name="Google Shape;247;p30"/>
          <p:cNvSpPr txBox="1"/>
          <p:nvPr>
            <p:ph idx="5" type="title"/>
          </p:nvPr>
        </p:nvSpPr>
        <p:spPr>
          <a:xfrm>
            <a:off x="256600" y="3341200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6" type="body"/>
          </p:nvPr>
        </p:nvSpPr>
        <p:spPr>
          <a:xfrm>
            <a:off x="2582375" y="167290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49" name="Google Shape;249;p30"/>
          <p:cNvSpPr txBox="1"/>
          <p:nvPr>
            <p:ph idx="7" type="title"/>
          </p:nvPr>
        </p:nvSpPr>
        <p:spPr>
          <a:xfrm>
            <a:off x="2582375" y="138382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1_1_1_1_1_1_1_1_2_1_2_1_1_1">
    <p:bg>
      <p:bgPr>
        <a:solidFill>
          <a:schemeClr val="dk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2" name="Google Shape;252;p31"/>
          <p:cNvSpPr/>
          <p:nvPr/>
        </p:nvSpPr>
        <p:spPr>
          <a:xfrm flipH="1" rot="10800000">
            <a:off x="5434850" y="1434600"/>
            <a:ext cx="3709200" cy="3708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31"/>
          <p:cNvSpPr txBox="1"/>
          <p:nvPr>
            <p:ph idx="1" type="body"/>
          </p:nvPr>
        </p:nvSpPr>
        <p:spPr>
          <a:xfrm>
            <a:off x="566475" y="1548175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54" name="Google Shape;254;p31"/>
          <p:cNvSpPr txBox="1"/>
          <p:nvPr>
            <p:ph idx="2" type="title"/>
          </p:nvPr>
        </p:nvSpPr>
        <p:spPr>
          <a:xfrm>
            <a:off x="566475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5" name="Google Shape;255;p31"/>
          <p:cNvSpPr txBox="1"/>
          <p:nvPr>
            <p:ph idx="3" type="body"/>
          </p:nvPr>
        </p:nvSpPr>
        <p:spPr>
          <a:xfrm>
            <a:off x="4937950" y="1548175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56" name="Google Shape;256;p31"/>
          <p:cNvSpPr txBox="1"/>
          <p:nvPr>
            <p:ph idx="4" type="title"/>
          </p:nvPr>
        </p:nvSpPr>
        <p:spPr>
          <a:xfrm>
            <a:off x="4937950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7" name="Google Shape;257;p31"/>
          <p:cNvSpPr txBox="1"/>
          <p:nvPr>
            <p:ph idx="5" type="body"/>
          </p:nvPr>
        </p:nvSpPr>
        <p:spPr>
          <a:xfrm>
            <a:off x="4937925" y="3564300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58" name="Google Shape;258;p31"/>
          <p:cNvSpPr txBox="1"/>
          <p:nvPr>
            <p:ph idx="6" type="title"/>
          </p:nvPr>
        </p:nvSpPr>
        <p:spPr>
          <a:xfrm>
            <a:off x="4937925" y="3242950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9" name="Google Shape;259;p31"/>
          <p:cNvSpPr txBox="1"/>
          <p:nvPr>
            <p:ph idx="7" type="body"/>
          </p:nvPr>
        </p:nvSpPr>
        <p:spPr>
          <a:xfrm>
            <a:off x="566500" y="3564300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60" name="Google Shape;260;p31"/>
          <p:cNvSpPr txBox="1"/>
          <p:nvPr>
            <p:ph idx="8" type="title"/>
          </p:nvPr>
        </p:nvSpPr>
        <p:spPr>
          <a:xfrm>
            <a:off x="566500" y="3242950"/>
            <a:ext cx="36396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1" name="Google Shape;261;p31"/>
          <p:cNvSpPr txBox="1"/>
          <p:nvPr>
            <p:ph idx="9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BLANK_1_1_1_1_1_1_1_1_1_1_1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/>
          <p:nvPr/>
        </p:nvSpPr>
        <p:spPr>
          <a:xfrm flipH="1" rot="10800000">
            <a:off x="6711875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2"/>
          <p:cNvSpPr txBox="1"/>
          <p:nvPr>
            <p:ph idx="1" type="subTitle"/>
          </p:nvPr>
        </p:nvSpPr>
        <p:spPr>
          <a:xfrm>
            <a:off x="4994475" y="109350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65" name="Google Shape;265;p32"/>
          <p:cNvSpPr txBox="1"/>
          <p:nvPr>
            <p:ph idx="2" type="subTitle"/>
          </p:nvPr>
        </p:nvSpPr>
        <p:spPr>
          <a:xfrm>
            <a:off x="4994475" y="172137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66" name="Google Shape;266;p32"/>
          <p:cNvSpPr txBox="1"/>
          <p:nvPr>
            <p:ph idx="3" type="subTitle"/>
          </p:nvPr>
        </p:nvSpPr>
        <p:spPr>
          <a:xfrm>
            <a:off x="4994475" y="234925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67" name="Google Shape;267;p32"/>
          <p:cNvSpPr txBox="1"/>
          <p:nvPr>
            <p:ph idx="4" type="subTitle"/>
          </p:nvPr>
        </p:nvSpPr>
        <p:spPr>
          <a:xfrm>
            <a:off x="4994475" y="297712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68" name="Google Shape;268;p32"/>
          <p:cNvSpPr txBox="1"/>
          <p:nvPr>
            <p:ph idx="5" type="subTitle"/>
          </p:nvPr>
        </p:nvSpPr>
        <p:spPr>
          <a:xfrm>
            <a:off x="4994475" y="360500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69" name="Google Shape;269;p32"/>
          <p:cNvSpPr txBox="1"/>
          <p:nvPr>
            <p:ph idx="6" type="subTitle"/>
          </p:nvPr>
        </p:nvSpPr>
        <p:spPr>
          <a:xfrm>
            <a:off x="4994475" y="423287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70" name="Google Shape;270;p32"/>
          <p:cNvSpPr/>
          <p:nvPr>
            <p:ph idx="7" type="pic"/>
          </p:nvPr>
        </p:nvSpPr>
        <p:spPr>
          <a:xfrm>
            <a:off x="50" y="1278300"/>
            <a:ext cx="4285500" cy="38652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32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2" name="Google Shape;272;p32"/>
          <p:cNvSpPr txBox="1"/>
          <p:nvPr>
            <p:ph idx="8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32"/>
          <p:cNvSpPr txBox="1"/>
          <p:nvPr>
            <p:ph idx="9" type="subTitle"/>
          </p:nvPr>
        </p:nvSpPr>
        <p:spPr>
          <a:xfrm>
            <a:off x="5343675" y="109350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274" name="Google Shape;274;p32"/>
          <p:cNvSpPr txBox="1"/>
          <p:nvPr>
            <p:ph idx="13" type="subTitle"/>
          </p:nvPr>
        </p:nvSpPr>
        <p:spPr>
          <a:xfrm>
            <a:off x="5343675" y="172137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275" name="Google Shape;275;p32"/>
          <p:cNvSpPr txBox="1"/>
          <p:nvPr>
            <p:ph idx="14" type="subTitle"/>
          </p:nvPr>
        </p:nvSpPr>
        <p:spPr>
          <a:xfrm>
            <a:off x="5343675" y="234925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276" name="Google Shape;276;p32"/>
          <p:cNvSpPr txBox="1"/>
          <p:nvPr>
            <p:ph idx="15" type="subTitle"/>
          </p:nvPr>
        </p:nvSpPr>
        <p:spPr>
          <a:xfrm>
            <a:off x="5343675" y="297712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277" name="Google Shape;277;p32"/>
          <p:cNvSpPr txBox="1"/>
          <p:nvPr>
            <p:ph idx="16" type="subTitle"/>
          </p:nvPr>
        </p:nvSpPr>
        <p:spPr>
          <a:xfrm>
            <a:off x="5343675" y="360500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278" name="Google Shape;278;p32"/>
          <p:cNvSpPr txBox="1"/>
          <p:nvPr>
            <p:ph idx="17" type="subTitle"/>
          </p:nvPr>
        </p:nvSpPr>
        <p:spPr>
          <a:xfrm>
            <a:off x="5343675" y="423287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alt">
  <p:cSld name="BLANK_1_1_1_1_1_1_1_1_1_1_1_1_1_1_1_1_1_1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idx="1" type="body"/>
          </p:nvPr>
        </p:nvSpPr>
        <p:spPr>
          <a:xfrm>
            <a:off x="256025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81" name="Google Shape;281;p33"/>
          <p:cNvSpPr txBox="1"/>
          <p:nvPr>
            <p:ph idx="2" type="body"/>
          </p:nvPr>
        </p:nvSpPr>
        <p:spPr>
          <a:xfrm>
            <a:off x="3241424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82" name="Google Shape;282;p33"/>
          <p:cNvSpPr txBox="1"/>
          <p:nvPr>
            <p:ph idx="3" type="body"/>
          </p:nvPr>
        </p:nvSpPr>
        <p:spPr>
          <a:xfrm>
            <a:off x="6226798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83" name="Google Shape;283;p33"/>
          <p:cNvSpPr/>
          <p:nvPr>
            <p:ph idx="4" type="pic"/>
          </p:nvPr>
        </p:nvSpPr>
        <p:spPr>
          <a:xfrm>
            <a:off x="2560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3"/>
          <p:cNvSpPr/>
          <p:nvPr>
            <p:ph idx="5" type="pic"/>
          </p:nvPr>
        </p:nvSpPr>
        <p:spPr>
          <a:xfrm>
            <a:off x="32414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3"/>
          <p:cNvSpPr/>
          <p:nvPr>
            <p:ph idx="6" type="pic"/>
          </p:nvPr>
        </p:nvSpPr>
        <p:spPr>
          <a:xfrm>
            <a:off x="6226825" y="1588650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7" type="subTitle"/>
          </p:nvPr>
        </p:nvSpPr>
        <p:spPr>
          <a:xfrm>
            <a:off x="2560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33"/>
          <p:cNvSpPr txBox="1"/>
          <p:nvPr>
            <p:ph idx="8" type="subTitle"/>
          </p:nvPr>
        </p:nvSpPr>
        <p:spPr>
          <a:xfrm>
            <a:off x="32413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3"/>
          <p:cNvSpPr txBox="1"/>
          <p:nvPr>
            <p:ph idx="9" type="subTitle"/>
          </p:nvPr>
        </p:nvSpPr>
        <p:spPr>
          <a:xfrm>
            <a:off x="62266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3"/>
          <p:cNvSpPr txBox="1"/>
          <p:nvPr>
            <p:ph idx="1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BLANK_1_1_1_1_1_1_1_1_1_1_1_1_1_1_1_1_1_1_1_2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34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34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5" name="Google Shape;295;p34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4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7" name="Google Shape;297;p34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98" name="Google Shape;298;p34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9" name="Google Shape;299;p34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0" name="Google Shape;300;p34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34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2" name="Google Shape;302;p34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3" name="Google Shape;303;p34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4" name="Google Shape;304;p34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5" name="Google Shape;305;p34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- Alt 1">
  <p:cSld name="BLANK_1_1_1_1_1_1_1_1_1_1_1_1_1_1_1_1_1_1_1_2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5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5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35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35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12" name="Google Shape;312;p35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13" name="Google Shape;313;p35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4" name="Google Shape;314;p35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15" name="Google Shape;315;p35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6" name="Google Shape;316;p35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17" name="Google Shape;317;p35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18" name="Google Shape;318;p35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19" name="Google Shape;319;p35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20" name="Google Shape;320;p35"/>
          <p:cNvSpPr txBox="1"/>
          <p:nvPr>
            <p:ph idx="1" type="body"/>
          </p:nvPr>
        </p:nvSpPr>
        <p:spPr>
          <a:xfrm>
            <a:off x="2432125" y="3851275"/>
            <a:ext cx="20850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21" name="Google Shape;321;p35"/>
          <p:cNvSpPr txBox="1"/>
          <p:nvPr>
            <p:ph idx="17" type="body"/>
          </p:nvPr>
        </p:nvSpPr>
        <p:spPr>
          <a:xfrm>
            <a:off x="256025" y="3851275"/>
            <a:ext cx="20664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22" name="Google Shape;322;p35"/>
          <p:cNvSpPr txBox="1"/>
          <p:nvPr>
            <p:ph idx="18" type="body"/>
          </p:nvPr>
        </p:nvSpPr>
        <p:spPr>
          <a:xfrm>
            <a:off x="6821675" y="3851275"/>
            <a:ext cx="20664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23" name="Google Shape;323;p35"/>
          <p:cNvSpPr txBox="1"/>
          <p:nvPr>
            <p:ph idx="19" type="body"/>
          </p:nvPr>
        </p:nvSpPr>
        <p:spPr>
          <a:xfrm>
            <a:off x="4629100" y="3851275"/>
            <a:ext cx="20850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24" name="Google Shape;324;p35"/>
          <p:cNvSpPr txBox="1"/>
          <p:nvPr>
            <p:ph idx="20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1_1_1_1_1_1_1_1_1_1_1_1_1_1_1_1_1_1_1_1_1_1">
    <p:bg>
      <p:bgPr>
        <a:solidFill>
          <a:schemeClr val="dk2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/>
          <p:nvPr/>
        </p:nvSpPr>
        <p:spPr>
          <a:xfrm>
            <a:off x="0" y="1182000"/>
            <a:ext cx="1873200" cy="30603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36"/>
          <p:cNvSpPr/>
          <p:nvPr/>
        </p:nvSpPr>
        <p:spPr>
          <a:xfrm>
            <a:off x="0" y="1182000"/>
            <a:ext cx="1873200" cy="187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36"/>
          <p:cNvSpPr/>
          <p:nvPr/>
        </p:nvSpPr>
        <p:spPr>
          <a:xfrm>
            <a:off x="0" y="1182000"/>
            <a:ext cx="1873200" cy="6837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36"/>
          <p:cNvSpPr/>
          <p:nvPr/>
        </p:nvSpPr>
        <p:spPr>
          <a:xfrm>
            <a:off x="0" y="0"/>
            <a:ext cx="1873200" cy="118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36"/>
          <p:cNvSpPr/>
          <p:nvPr/>
        </p:nvSpPr>
        <p:spPr>
          <a:xfrm>
            <a:off x="806250" y="1052675"/>
            <a:ext cx="260700" cy="260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36"/>
          <p:cNvSpPr/>
          <p:nvPr/>
        </p:nvSpPr>
        <p:spPr>
          <a:xfrm>
            <a:off x="0" y="4246550"/>
            <a:ext cx="9144000" cy="901200"/>
          </a:xfrm>
          <a:prstGeom prst="rect">
            <a:avLst/>
          </a:prstGeom>
          <a:gradFill>
            <a:gsLst>
              <a:gs pos="0">
                <a:schemeClr val="dk1"/>
              </a:gs>
              <a:gs pos="72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2" name="Google Shape;332;p36"/>
          <p:cNvCxnSpPr/>
          <p:nvPr/>
        </p:nvCxnSpPr>
        <p:spPr>
          <a:xfrm>
            <a:off x="0" y="424442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6"/>
          <p:cNvCxnSpPr/>
          <p:nvPr/>
        </p:nvCxnSpPr>
        <p:spPr>
          <a:xfrm>
            <a:off x="1873325" y="0"/>
            <a:ext cx="0" cy="424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6"/>
          <p:cNvSpPr txBox="1"/>
          <p:nvPr>
            <p:ph type="title"/>
          </p:nvPr>
        </p:nvSpPr>
        <p:spPr>
          <a:xfrm>
            <a:off x="2322425" y="602225"/>
            <a:ext cx="65658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5" name="Google Shape;335;p36"/>
          <p:cNvSpPr txBox="1"/>
          <p:nvPr>
            <p:ph idx="2" type="title"/>
          </p:nvPr>
        </p:nvSpPr>
        <p:spPr>
          <a:xfrm>
            <a:off x="2322425" y="1389575"/>
            <a:ext cx="6565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8" name="Google Shape;338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43" name="Google Shape;34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46" name="Google Shape;346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7" name="Google Shape;347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2" name="Google Shape;352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7" name="Google Shape;357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8" name="Google Shape;358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3" name="Google Shape;363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67" name="Google Shape;367;p4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4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4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4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1" name="Google Shape;371;p4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2" name="Google Shape;372;p4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75" name="Google Shape;375;p4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76" name="Google Shape;376;p4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9" name="Google Shape;379;p5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80" name="Google Shape;380;p5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81" name="Google Shape;381;p5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5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85" name="Google Shape;385;p5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86" name="Google Shape;386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7" name="Google Shape;387;p5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5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5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5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3" name="Google Shape;393;p5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4" name="Google Shape;394;p5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5" name="Google Shape;395;p5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6" name="Google Shape;396;p5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7" name="Google Shape;397;p5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5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5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5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03" name="Google Shape;403;p5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6" name="Google Shape;406;p5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5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5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9" name="Google Shape;40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10" name="Google Shape;410;p5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1" name="Google Shape;411;p5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4" name="Google Shape;414;p5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5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5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7" name="Google Shape;417;p5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5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9" name="Google Shape;41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20" name="Google Shape;420;p5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1" name="Google Shape;421;p5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2" name="Google Shape;422;p5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5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5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5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5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33" name="Google Shape;433;p5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5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56025" y="499600"/>
            <a:ext cx="53667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i="1"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4425" y="2634200"/>
            <a:ext cx="35652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61">
          <p15:clr>
            <a:srgbClr val="E46962"/>
          </p15:clr>
        </p15:guide>
        <p15:guide id="2" pos="5599">
          <p15:clr>
            <a:srgbClr val="E46962"/>
          </p15:clr>
        </p15:guide>
        <p15:guide id="3" orient="horz" pos="161">
          <p15:clr>
            <a:srgbClr val="E46962"/>
          </p15:clr>
        </p15:guide>
        <p15:guide id="4" orient="horz" pos="3079">
          <p15:clr>
            <a:srgbClr val="E46962"/>
          </p15:clr>
        </p15:guide>
        <p15:guide id="5" pos="1463">
          <p15:clr>
            <a:srgbClr val="E46962"/>
          </p15:clr>
        </p15:guide>
        <p15:guide id="6" pos="1532">
          <p15:clr>
            <a:srgbClr val="E46962"/>
          </p15:clr>
        </p15:guide>
        <p15:guide id="7" pos="2845">
          <p15:clr>
            <a:srgbClr val="E46962"/>
          </p15:clr>
        </p15:guide>
        <p15:guide id="8" pos="2916">
          <p15:clr>
            <a:srgbClr val="E46962"/>
          </p15:clr>
        </p15:guide>
        <p15:guide id="9" pos="4228">
          <p15:clr>
            <a:srgbClr val="E46962"/>
          </p15:clr>
        </p15:guide>
        <p15:guide id="10" pos="429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8"/>
          <p:cNvSpPr txBox="1"/>
          <p:nvPr>
            <p:ph type="title"/>
          </p:nvPr>
        </p:nvSpPr>
        <p:spPr>
          <a:xfrm>
            <a:off x="256050" y="3313175"/>
            <a:ext cx="23526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/>
              <a:t>Presented to you by:</a:t>
            </a:r>
            <a:endParaRPr i="0" sz="1200"/>
          </a:p>
        </p:txBody>
      </p:sp>
      <p:sp>
        <p:nvSpPr>
          <p:cNvPr id="441" name="Google Shape;441;p58"/>
          <p:cNvSpPr txBox="1"/>
          <p:nvPr>
            <p:ph idx="4" type="title"/>
          </p:nvPr>
        </p:nvSpPr>
        <p:spPr>
          <a:xfrm>
            <a:off x="256050" y="531725"/>
            <a:ext cx="8631900" cy="11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/>
              <a:t>C3.ai Financial Analysis</a:t>
            </a:r>
            <a:endParaRPr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442" name="Google Shape;442;p58"/>
          <p:cNvSpPr txBox="1"/>
          <p:nvPr>
            <p:ph idx="3" type="title"/>
          </p:nvPr>
        </p:nvSpPr>
        <p:spPr>
          <a:xfrm>
            <a:off x="256050" y="3700750"/>
            <a:ext cx="2560500" cy="7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/>
              <a:t>Gustavo Hernandez, Brandon Bekteshi, Giselle Saigh </a:t>
            </a:r>
            <a:endParaRPr i="0" sz="1500"/>
          </a:p>
        </p:txBody>
      </p:sp>
      <p:sp>
        <p:nvSpPr>
          <p:cNvPr id="443" name="Google Shape;443;p58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Sep 2027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444" name="Google Shape;444;p58"/>
          <p:cNvCxnSpPr/>
          <p:nvPr/>
        </p:nvCxnSpPr>
        <p:spPr>
          <a:xfrm>
            <a:off x="3297300" y="3618375"/>
            <a:ext cx="5846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58"/>
          <p:cNvSpPr/>
          <p:nvPr/>
        </p:nvSpPr>
        <p:spPr>
          <a:xfrm>
            <a:off x="6093575" y="2093150"/>
            <a:ext cx="3050400" cy="30504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58"/>
          <p:cNvSpPr/>
          <p:nvPr/>
        </p:nvSpPr>
        <p:spPr>
          <a:xfrm flipH="1">
            <a:off x="8338700" y="2810925"/>
            <a:ext cx="1614900" cy="1614900"/>
          </a:xfrm>
          <a:prstGeom prst="arc">
            <a:avLst>
              <a:gd fmla="val 16200000" name="adj1"/>
              <a:gd fmla="val 5413833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7" name="Google Shape;447;p58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8500" y="2038238"/>
            <a:ext cx="4756550" cy="2688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9"/>
          <p:cNvSpPr txBox="1"/>
          <p:nvPr>
            <p:ph idx="1" type="subTitle"/>
          </p:nvPr>
        </p:nvSpPr>
        <p:spPr>
          <a:xfrm>
            <a:off x="5094250" y="1265888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53" name="Google Shape;453;p59"/>
          <p:cNvSpPr txBox="1"/>
          <p:nvPr>
            <p:ph idx="2" type="subTitle"/>
          </p:nvPr>
        </p:nvSpPr>
        <p:spPr>
          <a:xfrm>
            <a:off x="5094250" y="1893763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5094250" y="3093138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55" name="Google Shape;455;p59"/>
          <p:cNvSpPr txBox="1"/>
          <p:nvPr>
            <p:ph idx="6" type="subTitle"/>
          </p:nvPr>
        </p:nvSpPr>
        <p:spPr>
          <a:xfrm>
            <a:off x="5094250" y="3692813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56" name="Google Shape;456;p59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57" name="Google Shape;457;p59"/>
          <p:cNvSpPr txBox="1"/>
          <p:nvPr>
            <p:ph idx="9" type="subTitle"/>
          </p:nvPr>
        </p:nvSpPr>
        <p:spPr>
          <a:xfrm>
            <a:off x="5443450" y="1265888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Perspective</a:t>
            </a:r>
            <a:endParaRPr/>
          </a:p>
        </p:txBody>
      </p:sp>
      <p:sp>
        <p:nvSpPr>
          <p:cNvPr id="458" name="Google Shape;458;p59"/>
          <p:cNvSpPr txBox="1"/>
          <p:nvPr>
            <p:ph idx="13" type="subTitle"/>
          </p:nvPr>
        </p:nvSpPr>
        <p:spPr>
          <a:xfrm>
            <a:off x="5443450" y="1893763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Data From 10-k</a:t>
            </a:r>
            <a:endParaRPr/>
          </a:p>
        </p:txBody>
      </p:sp>
      <p:sp>
        <p:nvSpPr>
          <p:cNvPr id="459" name="Google Shape;459;p59"/>
          <p:cNvSpPr txBox="1"/>
          <p:nvPr>
            <p:ph idx="14" type="subTitle"/>
          </p:nvPr>
        </p:nvSpPr>
        <p:spPr>
          <a:xfrm>
            <a:off x="5443450" y="3093138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 Analysis</a:t>
            </a:r>
            <a:endParaRPr/>
          </a:p>
        </p:txBody>
      </p:sp>
      <p:sp>
        <p:nvSpPr>
          <p:cNvPr id="460" name="Google Shape;460;p59"/>
          <p:cNvSpPr txBox="1"/>
          <p:nvPr>
            <p:ph idx="17" type="subTitle"/>
          </p:nvPr>
        </p:nvSpPr>
        <p:spPr>
          <a:xfrm>
            <a:off x="5443450" y="3692813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pic>
        <p:nvPicPr>
          <p:cNvPr id="461" name="Google Shape;461;p5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475" y="742225"/>
            <a:ext cx="3451550" cy="4145251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9"/>
          <p:cNvSpPr txBox="1"/>
          <p:nvPr>
            <p:ph idx="2" type="subTitle"/>
          </p:nvPr>
        </p:nvSpPr>
        <p:spPr>
          <a:xfrm>
            <a:off x="5094250" y="249345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63" name="Google Shape;463;p59"/>
          <p:cNvSpPr txBox="1"/>
          <p:nvPr>
            <p:ph idx="13" type="subTitle"/>
          </p:nvPr>
        </p:nvSpPr>
        <p:spPr>
          <a:xfrm>
            <a:off x="5443450" y="249345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10-k Financial Data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0"/>
          <p:cNvSpPr txBox="1"/>
          <p:nvPr>
            <p:ph type="title"/>
          </p:nvPr>
        </p:nvSpPr>
        <p:spPr>
          <a:xfrm>
            <a:off x="299825" y="20812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Perspective:</a:t>
            </a:r>
            <a:endParaRPr/>
          </a:p>
        </p:txBody>
      </p:sp>
      <p:sp>
        <p:nvSpPr>
          <p:cNvPr id="469" name="Google Shape;469;p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Does the business grow and expand over a 3–5 year horizon, and can it survive long enough to get there.</a:t>
            </a:r>
            <a:endParaRPr sz="2100"/>
          </a:p>
        </p:txBody>
      </p:sp>
      <p:sp>
        <p:nvSpPr>
          <p:cNvPr id="470" name="Google Shape;470;p60"/>
          <p:cNvSpPr txBox="1"/>
          <p:nvPr/>
        </p:nvSpPr>
        <p:spPr>
          <a:xfrm>
            <a:off x="435400" y="1913875"/>
            <a:ext cx="2911800" cy="13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Long-term shareholder deciding whether to invest in C3.ai.</a:t>
            </a:r>
            <a:endParaRPr sz="24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1" name="Google Shape;471;p60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2125" y="3661200"/>
            <a:ext cx="3440047" cy="14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" name="Google Shape;476;p61"/>
          <p:cNvCxnSpPr/>
          <p:nvPr/>
        </p:nvCxnSpPr>
        <p:spPr>
          <a:xfrm>
            <a:off x="0" y="1218975"/>
            <a:ext cx="457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" name="Google Shape;477;p61"/>
          <p:cNvSpPr txBox="1"/>
          <p:nvPr>
            <p:ph type="title"/>
          </p:nvPr>
        </p:nvSpPr>
        <p:spPr>
          <a:xfrm>
            <a:off x="256025" y="213150"/>
            <a:ext cx="42612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Data From 10-k</a:t>
            </a:r>
            <a:endParaRPr/>
          </a:p>
        </p:txBody>
      </p:sp>
      <p:sp>
        <p:nvSpPr>
          <p:cNvPr id="478" name="Google Shape;478;p61"/>
          <p:cNvSpPr txBox="1"/>
          <p:nvPr>
            <p:ph idx="5" type="body"/>
          </p:nvPr>
        </p:nvSpPr>
        <p:spPr>
          <a:xfrm>
            <a:off x="5190600" y="1902000"/>
            <a:ext cx="3639600" cy="16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relevant statement.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could be a quote from a project lead or client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feedback.</a:t>
            </a:r>
            <a:endParaRPr/>
          </a:p>
        </p:txBody>
      </p:sp>
      <p:sp>
        <p:nvSpPr>
          <p:cNvPr id="479" name="Google Shape;479;p61"/>
          <p:cNvSpPr txBox="1"/>
          <p:nvPr>
            <p:ph idx="1" type="body"/>
          </p:nvPr>
        </p:nvSpPr>
        <p:spPr>
          <a:xfrm>
            <a:off x="256025" y="1337050"/>
            <a:ext cx="3639600" cy="328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 average of 88.3% of revenue comes from sales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rgbClr val="000000"/>
                </a:solidFill>
              </a:rPr>
              <a:t>One customer makes up 14% of revenue - concentration risk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" sz="1900">
                <a:solidFill>
                  <a:srgbClr val="000000"/>
                </a:solidFill>
              </a:rPr>
              <a:t>Cut 280 jobs in early 2026 - management is reacting to a problem</a:t>
            </a:r>
            <a:endParaRPr sz="1900">
              <a:solidFill>
                <a:srgbClr val="000000"/>
              </a:solidFill>
            </a:endParaRPr>
          </a:p>
        </p:txBody>
      </p:sp>
      <p:pic>
        <p:nvPicPr>
          <p:cNvPr id="480" name="Google Shape;48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797" y="1328962"/>
            <a:ext cx="3680524" cy="24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2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10-k Financial Data</a:t>
            </a:r>
            <a:endParaRPr/>
          </a:p>
        </p:txBody>
      </p:sp>
      <p:cxnSp>
        <p:nvCxnSpPr>
          <p:cNvPr id="486" name="Google Shape;486;p62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62"/>
          <p:cNvSpPr txBox="1"/>
          <p:nvPr>
            <p:ph idx="1" type="body"/>
          </p:nvPr>
        </p:nvSpPr>
        <p:spPr>
          <a:xfrm>
            <a:off x="255975" y="1547275"/>
            <a:ext cx="3639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Add another highlight from this quarter. For example, this could be a successful project. Use this slide to describe the project goals, challenges, and outcomes.</a:t>
            </a:r>
            <a:endParaRPr/>
          </a:p>
        </p:txBody>
      </p:sp>
      <p:sp>
        <p:nvSpPr>
          <p:cNvPr id="488" name="Google Shape;488;p62"/>
          <p:cNvSpPr txBox="1"/>
          <p:nvPr>
            <p:ph idx="3" type="body"/>
          </p:nvPr>
        </p:nvSpPr>
        <p:spPr>
          <a:xfrm>
            <a:off x="4517150" y="2213738"/>
            <a:ext cx="4285800" cy="25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Revenue momentum dramatically fell in 2026 (total revenue)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Increasingly negative returns from operating (operating income)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Cash collapsed nearly 60%, weakening liquidity (cash and cash equiv)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Day to day operations 359% in 2026 compared to the previous year (operating cash flow)</a:t>
            </a:r>
            <a:endParaRPr sz="1400"/>
          </a:p>
          <a:p>
            <a:pPr indent="0" lvl="0" marL="0" rtl="0" algn="l"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489" name="Google Shape;489;p62"/>
          <p:cNvSpPr txBox="1"/>
          <p:nvPr/>
        </p:nvSpPr>
        <p:spPr>
          <a:xfrm>
            <a:off x="163300" y="531725"/>
            <a:ext cx="131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(In Thousands)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62"/>
          <p:cNvSpPr txBox="1"/>
          <p:nvPr/>
        </p:nvSpPr>
        <p:spPr>
          <a:xfrm>
            <a:off x="4572000" y="1401850"/>
            <a:ext cx="495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are the key takeaways?</a:t>
            </a:r>
            <a:endParaRPr sz="21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91" name="Google Shape;491;p62" title="Screenshot 2026-09-17 at 8.01.3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00" y="1344725"/>
            <a:ext cx="4137726" cy="362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3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 Margin Ratio</a:t>
            </a:r>
            <a:endParaRPr/>
          </a:p>
        </p:txBody>
      </p:sp>
      <p:cxnSp>
        <p:nvCxnSpPr>
          <p:cNvPr id="497" name="Google Shape;497;p63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63"/>
          <p:cNvSpPr txBox="1"/>
          <p:nvPr/>
        </p:nvSpPr>
        <p:spPr>
          <a:xfrm>
            <a:off x="163300" y="531725"/>
            <a:ext cx="131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63"/>
          <p:cNvSpPr txBox="1"/>
          <p:nvPr/>
        </p:nvSpPr>
        <p:spPr>
          <a:xfrm>
            <a:off x="4963750" y="1424200"/>
            <a:ext cx="442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Net Margin = (Net Income / Total Revenue) x 100</a:t>
            </a:r>
            <a:endParaRPr sz="21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00" name="Google Shape;500;p63" title="Screenshot 2026-09-17 at 8.22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00" y="1503300"/>
            <a:ext cx="4788556" cy="9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63" title="Screenshot 2026-09-17 at 8.22.2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00" y="2998575"/>
            <a:ext cx="26479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63"/>
          <p:cNvSpPr/>
          <p:nvPr/>
        </p:nvSpPr>
        <p:spPr>
          <a:xfrm rot="3082418">
            <a:off x="2034142" y="2403634"/>
            <a:ext cx="160515" cy="647637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63"/>
          <p:cNvSpPr txBox="1"/>
          <p:nvPr/>
        </p:nvSpPr>
        <p:spPr>
          <a:xfrm>
            <a:off x="163300" y="3637625"/>
            <a:ext cx="2830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In the year 2024, for every $1 brought in, the company spent $1.90 to keep the business running.</a:t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63"/>
          <p:cNvSpPr txBox="1"/>
          <p:nvPr/>
        </p:nvSpPr>
        <p:spPr>
          <a:xfrm>
            <a:off x="5372375" y="3686050"/>
            <a:ext cx="31548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As time progresses, the expenditure is outpacing revenue . This suggests that long-term operating my not be feasible.</a:t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63"/>
          <p:cNvSpPr txBox="1"/>
          <p:nvPr/>
        </p:nvSpPr>
        <p:spPr>
          <a:xfrm>
            <a:off x="5252375" y="2887875"/>
            <a:ext cx="3274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What does this mean?</a:t>
            </a:r>
            <a:endParaRPr sz="1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4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Gross Margin</a:t>
            </a:r>
            <a:endParaRPr/>
          </a:p>
        </p:txBody>
      </p:sp>
      <p:sp>
        <p:nvSpPr>
          <p:cNvPr id="511" name="Google Shape;511;p64"/>
          <p:cNvSpPr txBox="1"/>
          <p:nvPr>
            <p:ph idx="3" type="body"/>
          </p:nvPr>
        </p:nvSpPr>
        <p:spPr>
          <a:xfrm>
            <a:off x="4604153" y="2722000"/>
            <a:ext cx="4387800" cy="23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➔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Gross margin increased from 2024 to 2025  with a 4% increase, showing improved profitability at gross-profit margins.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➔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Gross margin dropped significantly from 2025 to 2026 by approximately 30%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➔"/>
            </a:pPr>
            <a:r>
              <a:rPr lang="en" sz="1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For every dollar in revenue, $0.61 remained as gross profit before operating expenses.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➔"/>
            </a:pPr>
            <a:r>
              <a:rPr lang="en" sz="1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2026-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every dollar in revenue only $0.31 remained as gross profit.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◆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Decline in the companies profitability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◆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Increases risk of long term investment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" name="Google Shape;512;p64" title="Screenshot 2026-09-17 at 10.05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13" y="3397126"/>
            <a:ext cx="3585323" cy="8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4"/>
          <p:cNvSpPr txBox="1"/>
          <p:nvPr/>
        </p:nvSpPr>
        <p:spPr>
          <a:xfrm>
            <a:off x="5675775" y="1608575"/>
            <a:ext cx="29526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Gross Margin Ratio =</a:t>
            </a:r>
            <a:endParaRPr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Gross Profit / Total Revenue </a:t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4" name="Google Shape;51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25" y="1313776"/>
            <a:ext cx="5315175" cy="13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64"/>
          <p:cNvSpPr txBox="1"/>
          <p:nvPr/>
        </p:nvSpPr>
        <p:spPr>
          <a:xfrm>
            <a:off x="3723086" y="3457050"/>
            <a:ext cx="6414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+ 4%</a:t>
            </a:r>
            <a:endParaRPr b="1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-30%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5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on Assets ratio </a:t>
            </a:r>
            <a:endParaRPr/>
          </a:p>
        </p:txBody>
      </p:sp>
      <p:pic>
        <p:nvPicPr>
          <p:cNvPr id="521" name="Google Shape;52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200" y="3382600"/>
            <a:ext cx="3147850" cy="15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275" y="1298275"/>
            <a:ext cx="4833149" cy="1886393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65"/>
          <p:cNvSpPr txBox="1"/>
          <p:nvPr/>
        </p:nvSpPr>
        <p:spPr>
          <a:xfrm>
            <a:off x="5590075" y="1357050"/>
            <a:ext cx="329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ROA= net loss/total assets </a:t>
            </a:r>
            <a:endParaRPr sz="1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65"/>
          <p:cNvSpPr txBox="1"/>
          <p:nvPr/>
        </p:nvSpPr>
        <p:spPr>
          <a:xfrm>
            <a:off x="5490200" y="1818750"/>
            <a:ext cx="329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-470,369/816,273+1,025,882/2= -51%</a:t>
            </a:r>
            <a:endParaRPr sz="1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p65"/>
          <p:cNvSpPr txBox="1"/>
          <p:nvPr/>
        </p:nvSpPr>
        <p:spPr>
          <a:xfrm>
            <a:off x="5321200" y="2547150"/>
            <a:ext cx="3297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The result of ROA indicates that C3.ai is consuming it’s asset base rather than focusing on returns for their own company. The drops in both years means no net </a:t>
            </a:r>
            <a:r>
              <a:rPr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profitability</a:t>
            </a:r>
            <a:r>
              <a:rPr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as well for the company and because of this, this is treated as a high risk investment until they are able to stabilize their losses</a:t>
            </a:r>
            <a:r>
              <a:rPr lang="en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6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on Equity Ratio</a:t>
            </a:r>
            <a:endParaRPr/>
          </a:p>
        </p:txBody>
      </p:sp>
      <p:sp>
        <p:nvSpPr>
          <p:cNvPr id="531" name="Google Shape;531;p66"/>
          <p:cNvSpPr txBox="1"/>
          <p:nvPr>
            <p:ph idx="1" type="body"/>
          </p:nvPr>
        </p:nvSpPr>
        <p:spPr>
          <a:xfrm>
            <a:off x="256025" y="1240750"/>
            <a:ext cx="3639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NET INCOME AND AVG. EQUITY</a:t>
            </a:r>
            <a:endParaRPr sz="1100"/>
          </a:p>
        </p:txBody>
      </p:sp>
      <p:sp>
        <p:nvSpPr>
          <p:cNvPr id="532" name="Google Shape;532;p66"/>
          <p:cNvSpPr txBox="1"/>
          <p:nvPr>
            <p:ph idx="2" type="body"/>
          </p:nvPr>
        </p:nvSpPr>
        <p:spPr>
          <a:xfrm>
            <a:off x="4882425" y="1547275"/>
            <a:ext cx="4044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ROE= NET INCOME/ AVG STOCKHOLDERS’ EQUITY X 100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AVG EQUITY= 838,303 + 653, 751/2 = 746,027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ROE= (-288,702/746,027)= -38.70%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33" name="Google Shape;533;p66"/>
          <p:cNvSpPr txBox="1"/>
          <p:nvPr>
            <p:ph idx="3" type="body"/>
          </p:nvPr>
        </p:nvSpPr>
        <p:spPr>
          <a:xfrm>
            <a:off x="4831950" y="2558675"/>
            <a:ext cx="36396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 result of the ROE indicates that the company reported a loss than generating positive return on its stockholders’ </a:t>
            </a:r>
            <a:r>
              <a:rPr lang="en" sz="1100"/>
              <a:t>equity. In other words, for every $1 for a stockholders’ equity, C3. ai generated an estimate loss of $0.387 in 2025.</a:t>
            </a:r>
            <a:endParaRPr sz="1100"/>
          </a:p>
        </p:txBody>
      </p:sp>
      <p:pic>
        <p:nvPicPr>
          <p:cNvPr id="534" name="Google Shape;53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325" y="1748675"/>
            <a:ext cx="1617250" cy="1758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66" title="Screenshot 2026-09-16 2219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025" y="1432675"/>
            <a:ext cx="35642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66" title="Screenshot 2026-09-16 2219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325" y="3751300"/>
            <a:ext cx="46196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6"/>
          <p:cNvSpPr/>
          <p:nvPr/>
        </p:nvSpPr>
        <p:spPr>
          <a:xfrm>
            <a:off x="89700" y="2796025"/>
            <a:ext cx="269100" cy="9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66"/>
          <p:cNvSpPr/>
          <p:nvPr/>
        </p:nvSpPr>
        <p:spPr>
          <a:xfrm rot="-10792344">
            <a:off x="1753938" y="2796028"/>
            <a:ext cx="269401" cy="9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66"/>
          <p:cNvSpPr/>
          <p:nvPr/>
        </p:nvSpPr>
        <p:spPr>
          <a:xfrm>
            <a:off x="2900700" y="1676500"/>
            <a:ext cx="97200" cy="275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7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45" name="Google Shape;545;p67"/>
          <p:cNvSpPr txBox="1"/>
          <p:nvPr>
            <p:ph idx="4" type="subTitle"/>
          </p:nvPr>
        </p:nvSpPr>
        <p:spPr>
          <a:xfrm>
            <a:off x="179475" y="3297485"/>
            <a:ext cx="4144500" cy="159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C3.ai has strong liquidity, but it appears too risky for a long-term investment due to the significant decline in revenue, profit margins, and cash flow in 2026. </a:t>
            </a:r>
            <a:endParaRPr sz="1900"/>
          </a:p>
        </p:txBody>
      </p:sp>
      <p:pic>
        <p:nvPicPr>
          <p:cNvPr id="546" name="Google Shape;546;p67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1175" y="1347550"/>
            <a:ext cx="4311525" cy="30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7"/>
          <p:cNvSpPr txBox="1"/>
          <p:nvPr/>
        </p:nvSpPr>
        <p:spPr>
          <a:xfrm>
            <a:off x="256025" y="1347550"/>
            <a:ext cx="3694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Declining cash flow</a:t>
            </a:r>
            <a:r>
              <a:rPr lang="en"/>
              <a:t> → The business may be spending more cash than it generates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Profit margins →</a:t>
            </a:r>
            <a:r>
              <a:rPr lang="en"/>
              <a:t> making less profit per dollar of revenue could be a concern for </a:t>
            </a:r>
            <a:r>
              <a:rPr lang="en"/>
              <a:t>long</a:t>
            </a:r>
            <a:r>
              <a:rPr lang="en"/>
              <a:t> term shareholders. There is big uncertainty.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ROA-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8"/>
          <p:cNvSpPr txBox="1"/>
          <p:nvPr>
            <p:ph type="title"/>
          </p:nvPr>
        </p:nvSpPr>
        <p:spPr>
          <a:xfrm>
            <a:off x="2322425" y="602225"/>
            <a:ext cx="6565800" cy="6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</p:txBody>
      </p:sp>
      <p:sp>
        <p:nvSpPr>
          <p:cNvPr id="553" name="Google Shape;553;p68"/>
          <p:cNvSpPr txBox="1"/>
          <p:nvPr>
            <p:ph idx="2" type="title"/>
          </p:nvPr>
        </p:nvSpPr>
        <p:spPr>
          <a:xfrm>
            <a:off x="2322425" y="1389575"/>
            <a:ext cx="6565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Planning Meeting">
  <a:themeElements>
    <a:clrScheme name="Simple Light">
      <a:dk1>
        <a:srgbClr val="D21117"/>
      </a:dk1>
      <a:lt1>
        <a:srgbClr val="F6EEEB"/>
      </a:lt1>
      <a:dk2>
        <a:srgbClr val="ECECEC"/>
      </a:dk2>
      <a:lt2>
        <a:srgbClr val="353635"/>
      </a:lt2>
      <a:accent1>
        <a:srgbClr val="B9DFFF"/>
      </a:accent1>
      <a:accent2>
        <a:srgbClr val="006CE9"/>
      </a:accent2>
      <a:accent3>
        <a:srgbClr val="FBFAFA"/>
      </a:accent3>
      <a:accent4>
        <a:srgbClr val="686868"/>
      </a:accent4>
      <a:accent5>
        <a:srgbClr val="C5C5C5"/>
      </a:accent5>
      <a:accent6>
        <a:srgbClr val="FFC1C3"/>
      </a:accent6>
      <a:hlink>
        <a:srgbClr val="006C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